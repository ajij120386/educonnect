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0" r:id="rId1"/>
  </p:sldMasterIdLst>
  <p:notesMasterIdLst>
    <p:notesMasterId r:id="rId43"/>
  </p:notesMasterIdLst>
  <p:sldIdLst>
    <p:sldId id="256" r:id="rId2"/>
    <p:sldId id="257" r:id="rId3"/>
    <p:sldId id="265" r:id="rId4"/>
    <p:sldId id="315" r:id="rId5"/>
    <p:sldId id="316" r:id="rId6"/>
    <p:sldId id="314" r:id="rId7"/>
    <p:sldId id="268" r:id="rId8"/>
    <p:sldId id="276" r:id="rId9"/>
    <p:sldId id="275" r:id="rId10"/>
    <p:sldId id="340" r:id="rId11"/>
    <p:sldId id="295" r:id="rId12"/>
    <p:sldId id="310" r:id="rId13"/>
    <p:sldId id="339" r:id="rId14"/>
    <p:sldId id="311" r:id="rId15"/>
    <p:sldId id="336" r:id="rId16"/>
    <p:sldId id="337" r:id="rId17"/>
    <p:sldId id="312" r:id="rId18"/>
    <p:sldId id="318" r:id="rId19"/>
    <p:sldId id="317" r:id="rId20"/>
    <p:sldId id="319" r:id="rId21"/>
    <p:sldId id="320" r:id="rId22"/>
    <p:sldId id="313" r:id="rId23"/>
    <p:sldId id="321" r:id="rId24"/>
    <p:sldId id="326" r:id="rId25"/>
    <p:sldId id="327" r:id="rId26"/>
    <p:sldId id="322" r:id="rId27"/>
    <p:sldId id="329" r:id="rId28"/>
    <p:sldId id="330" r:id="rId29"/>
    <p:sldId id="335" r:id="rId30"/>
    <p:sldId id="331" r:id="rId31"/>
    <p:sldId id="333" r:id="rId32"/>
    <p:sldId id="334" r:id="rId33"/>
    <p:sldId id="332" r:id="rId34"/>
    <p:sldId id="328" r:id="rId35"/>
    <p:sldId id="325" r:id="rId36"/>
    <p:sldId id="323" r:id="rId37"/>
    <p:sldId id="324" r:id="rId38"/>
    <p:sldId id="280" r:id="rId39"/>
    <p:sldId id="300" r:id="rId40"/>
    <p:sldId id="281" r:id="rId41"/>
    <p:sldId id="277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. Amzad Hossain" initials="MH" lastIdx="5" clrIdx="0">
    <p:extLst>
      <p:ext uri="{19B8F6BF-5375-455C-9EA6-DF929625EA0E}">
        <p15:presenceInfo xmlns:p15="http://schemas.microsoft.com/office/powerpoint/2012/main" userId="7ed1f38c5c175c0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954" autoAdjust="0"/>
  </p:normalViewPr>
  <p:slideViewPr>
    <p:cSldViewPr snapToGrid="0">
      <p:cViewPr>
        <p:scale>
          <a:sx n="75" d="100"/>
          <a:sy n="75" d="100"/>
        </p:scale>
        <p:origin x="12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7D14C5-CED9-4CFC-B338-DFB0C8090B9F}">
      <dgm:prSet phldrT="[Text]" custT="1"/>
      <dgm:spPr/>
      <dgm:t>
        <a:bodyPr/>
        <a:lstStyle/>
        <a:p>
          <a:r>
            <a:rPr lang="en-US" sz="2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Front-end Development</a:t>
          </a:r>
        </a:p>
      </dgm:t>
      <dgm:extLst>
        <a:ext uri="{E40237B7-FDA0-4F09-8148-C483321AD2D9}">
          <dgm14:cNvPr xmlns:dgm14="http://schemas.microsoft.com/office/drawing/2010/diagram" id="0" name="" descr="Vertical bullet list showing 3 groups arranged one below the other and bullet points are present under each group."/>
        </a:ext>
      </dgm:extLst>
    </dgm:pt>
    <dgm:pt modelId="{92DFCBC7-BC14-4697-8ECD-BF0D5B1EDA3B}" type="parTrans" cxnId="{7D461F02-AB37-447A-AC6B-D31C4D2EC6A9}">
      <dgm:prSet/>
      <dgm:spPr/>
      <dgm:t>
        <a:bodyPr/>
        <a:lstStyle/>
        <a:p>
          <a:endParaRPr lang="en-US"/>
        </a:p>
      </dgm:t>
    </dgm:pt>
    <dgm:pt modelId="{87E3C0DB-7BEE-424E-8E11-B838D238D595}" type="sibTrans" cxnId="{7D461F02-AB37-447A-AC6B-D31C4D2EC6A9}">
      <dgm:prSet/>
      <dgm:spPr/>
      <dgm:t>
        <a:bodyPr/>
        <a:lstStyle/>
        <a:p>
          <a:endParaRPr lang="en-US"/>
        </a:p>
      </dgm:t>
    </dgm:pt>
    <dgm:pt modelId="{C111C18A-FD96-4E63-821A-54D70D8DC65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HTML  </a:t>
          </a:r>
        </a:p>
      </dgm:t>
    </dgm:pt>
    <dgm:pt modelId="{83BE74EF-FAB4-45A2-BBED-7CD5259AB210}" type="parTrans" cxnId="{FFD8B471-C98F-4DB5-8DE3-2AB7E896ADD5}">
      <dgm:prSet/>
      <dgm:spPr/>
      <dgm:t>
        <a:bodyPr/>
        <a:lstStyle/>
        <a:p>
          <a:endParaRPr lang="en-US"/>
        </a:p>
      </dgm:t>
    </dgm:pt>
    <dgm:pt modelId="{B4F34DE2-2DAE-4F88-8C78-BD8892EBF4FF}" type="sibTrans" cxnId="{FFD8B471-C98F-4DB5-8DE3-2AB7E896ADD5}">
      <dgm:prSet/>
      <dgm:spPr/>
      <dgm:t>
        <a:bodyPr/>
        <a:lstStyle/>
        <a:p>
          <a:endParaRPr lang="en-US"/>
        </a:p>
      </dgm:t>
    </dgm:pt>
    <dgm:pt modelId="{3C67E77D-62FA-499D-B5E6-E79A091C5267}">
      <dgm:prSet phldrT="[Text]" custT="1"/>
      <dgm:spPr/>
      <dgm:t>
        <a:bodyPr/>
        <a:lstStyle/>
        <a:p>
          <a:r>
            <a:rPr lang="en-US" sz="2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Back-end Development</a:t>
          </a:r>
        </a:p>
      </dgm:t>
      <dgm:extLst>
        <a:ext uri="{E40237B7-FDA0-4F09-8148-C483321AD2D9}">
          <dgm14:cNvPr xmlns:dgm14="http://schemas.microsoft.com/office/drawing/2010/diagram" id="0" name="" descr="Vertical bullet list showing 3 groups arranged one below the other and bullet points are present under each group."/>
        </a:ext>
      </dgm:extLst>
    </dgm:pt>
    <dgm:pt modelId="{5337D229-E330-4525-B0FA-14EC5A80604A}" type="parTrans" cxnId="{32AA6160-4426-4C4D-93AE-E2F474E37AD9}">
      <dgm:prSet/>
      <dgm:spPr/>
      <dgm:t>
        <a:bodyPr/>
        <a:lstStyle/>
        <a:p>
          <a:endParaRPr lang="en-US"/>
        </a:p>
      </dgm:t>
    </dgm:pt>
    <dgm:pt modelId="{C056AC5D-B04E-4376-A1CB-3EAB7BE5AF5B}" type="sibTrans" cxnId="{32AA6160-4426-4C4D-93AE-E2F474E37AD9}">
      <dgm:prSet/>
      <dgm:spPr/>
      <dgm:t>
        <a:bodyPr/>
        <a:lstStyle/>
        <a:p>
          <a:endParaRPr lang="en-US"/>
        </a:p>
      </dgm:t>
    </dgm:pt>
    <dgm:pt modelId="{D6510970-8F9C-4B45-A0F3-6ACB9AA76D40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PHP </a:t>
          </a:r>
        </a:p>
      </dgm:t>
    </dgm:pt>
    <dgm:pt modelId="{7A9FC291-2B6A-4475-8B09-917F9F09E3AB}" type="parTrans" cxnId="{C6E7222A-5F84-456A-9806-D51868FAF8A9}">
      <dgm:prSet/>
      <dgm:spPr/>
      <dgm:t>
        <a:bodyPr/>
        <a:lstStyle/>
        <a:p>
          <a:endParaRPr lang="en-US"/>
        </a:p>
      </dgm:t>
    </dgm:pt>
    <dgm:pt modelId="{4B87F32C-3630-48F2-9114-4262C0BEEA9E}" type="sibTrans" cxnId="{C6E7222A-5F84-456A-9806-D51868FAF8A9}">
      <dgm:prSet/>
      <dgm:spPr/>
      <dgm:t>
        <a:bodyPr/>
        <a:lstStyle/>
        <a:p>
          <a:endParaRPr lang="en-US"/>
        </a:p>
      </dgm:t>
    </dgm:pt>
    <dgm:pt modelId="{CC6B7442-0B72-4EF2-9F13-1325B51AFF9F}">
      <dgm:prSet phldrT="[Text]" custT="1"/>
      <dgm:spPr/>
      <dgm:t>
        <a:bodyPr/>
        <a:lstStyle/>
        <a:p>
          <a:r>
            <a:rPr lang="en-US" sz="2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Database Related Tools </a:t>
          </a:r>
        </a:p>
      </dgm:t>
    </dgm:pt>
    <dgm:pt modelId="{E3D139E0-5DC2-4F8E-9F8F-B3F0EBCD4689}" type="parTrans" cxnId="{102D6D4D-90C9-40F4-A001-35DCC329B127}">
      <dgm:prSet/>
      <dgm:spPr/>
      <dgm:t>
        <a:bodyPr/>
        <a:lstStyle/>
        <a:p>
          <a:endParaRPr lang="en-US"/>
        </a:p>
      </dgm:t>
    </dgm:pt>
    <dgm:pt modelId="{FF80E1BA-0D6F-4EE8-9640-892A5897DBCD}" type="sibTrans" cxnId="{102D6D4D-90C9-40F4-A001-35DCC329B127}">
      <dgm:prSet/>
      <dgm:spPr/>
      <dgm:t>
        <a:bodyPr/>
        <a:lstStyle/>
        <a:p>
          <a:endParaRPr lang="en-US"/>
        </a:p>
      </dgm:t>
    </dgm:pt>
    <dgm:pt modelId="{FE0A3CAE-D039-42F2-AF12-1E6F6793A63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MySQL</a:t>
          </a:r>
        </a:p>
      </dgm:t>
    </dgm:pt>
    <dgm:pt modelId="{7E2ED2D1-AFF4-4DED-BB53-30A310825CE2}" type="parTrans" cxnId="{A6FB3C49-AB75-4315-BB6B-886AA454F16F}">
      <dgm:prSet/>
      <dgm:spPr/>
      <dgm:t>
        <a:bodyPr/>
        <a:lstStyle/>
        <a:p>
          <a:endParaRPr lang="en-US"/>
        </a:p>
      </dgm:t>
    </dgm:pt>
    <dgm:pt modelId="{417BDEF2-191B-4000-BDE8-D3D22A51FCF3}" type="sibTrans" cxnId="{A6FB3C49-AB75-4315-BB6B-886AA454F16F}">
      <dgm:prSet/>
      <dgm:spPr/>
      <dgm:t>
        <a:bodyPr/>
        <a:lstStyle/>
        <a:p>
          <a:endParaRPr lang="en-US"/>
        </a:p>
      </dgm:t>
    </dgm:pt>
    <dgm:pt modelId="{CBE4FC04-D00A-492A-9E98-DB7228700F95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CSS</a:t>
          </a:r>
        </a:p>
      </dgm:t>
    </dgm:pt>
    <dgm:pt modelId="{A4CFDE2B-A88E-4BC6-BF25-8D3F819056FC}" type="parTrans" cxnId="{B4626C02-16F5-4D36-BE6B-9AEEF0F56C86}">
      <dgm:prSet/>
      <dgm:spPr/>
      <dgm:t>
        <a:bodyPr/>
        <a:lstStyle/>
        <a:p>
          <a:endParaRPr lang="en-US"/>
        </a:p>
      </dgm:t>
    </dgm:pt>
    <dgm:pt modelId="{ADC2E83E-D682-4355-AFB0-C70F295F2488}" type="sibTrans" cxnId="{B4626C02-16F5-4D36-BE6B-9AEEF0F56C86}">
      <dgm:prSet/>
      <dgm:spPr/>
      <dgm:t>
        <a:bodyPr/>
        <a:lstStyle/>
        <a:p>
          <a:endParaRPr lang="en-US"/>
        </a:p>
      </dgm:t>
    </dgm:pt>
    <dgm:pt modelId="{DD986A54-6FC5-4EA9-8975-4F5F9974673C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Bootstrap </a:t>
          </a:r>
        </a:p>
      </dgm:t>
    </dgm:pt>
    <dgm:pt modelId="{9DDC633D-FDB8-4A2A-B720-49FF347F84B9}" type="parTrans" cxnId="{D3583C6B-AA27-4F63-A3C5-7DB49EF3BD22}">
      <dgm:prSet/>
      <dgm:spPr/>
      <dgm:t>
        <a:bodyPr/>
        <a:lstStyle/>
        <a:p>
          <a:endParaRPr lang="en-US"/>
        </a:p>
      </dgm:t>
    </dgm:pt>
    <dgm:pt modelId="{C4847DF1-DC9E-4118-B298-D4E896AD8B21}" type="sibTrans" cxnId="{D3583C6B-AA27-4F63-A3C5-7DB49EF3BD22}">
      <dgm:prSet/>
      <dgm:spPr/>
      <dgm:t>
        <a:bodyPr/>
        <a:lstStyle/>
        <a:p>
          <a:endParaRPr lang="en-US"/>
        </a:p>
      </dgm:t>
    </dgm:pt>
    <dgm:pt modelId="{4958C117-A332-414E-8B28-C5F5B208A6B5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JavaScript  </a:t>
          </a:r>
        </a:p>
      </dgm:t>
    </dgm:pt>
    <dgm:pt modelId="{B47622F9-F7EC-46B9-88B9-F3AB3EA1C4CC}" type="parTrans" cxnId="{72D362AC-1C73-40DF-BE99-4B24412C0442}">
      <dgm:prSet/>
      <dgm:spPr/>
      <dgm:t>
        <a:bodyPr/>
        <a:lstStyle/>
        <a:p>
          <a:endParaRPr lang="en-US"/>
        </a:p>
      </dgm:t>
    </dgm:pt>
    <dgm:pt modelId="{E64D5C15-5529-458D-AB31-16814D908DD6}" type="sibTrans" cxnId="{72D362AC-1C73-40DF-BE99-4B24412C0442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A9DD881E-A532-414B-870C-8ADE2076F78C}" type="pres">
      <dgm:prSet presAssocID="{477D14C5-CED9-4CFC-B338-DFB0C8090B9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5F6E02-AD43-4E7A-935B-DDF5D6C74800}" type="pres">
      <dgm:prSet presAssocID="{477D14C5-CED9-4CFC-B338-DFB0C8090B9F}" presName="childText" presStyleLbl="revTx" presStyleIdx="0" presStyleCnt="3">
        <dgm:presLayoutVars>
          <dgm:bulletEnabled val="1"/>
        </dgm:presLayoutVars>
      </dgm:prSet>
      <dgm:spPr/>
    </dgm:pt>
    <dgm:pt modelId="{81203336-F3DE-4B3A-BCF4-0F68C23AC2BB}" type="pres">
      <dgm:prSet presAssocID="{3C67E77D-62FA-499D-B5E6-E79A091C526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82956A5-ADC8-4959-B856-589B9D9B9635}" type="pres">
      <dgm:prSet presAssocID="{3C67E77D-62FA-499D-B5E6-E79A091C5267}" presName="childText" presStyleLbl="revTx" presStyleIdx="1" presStyleCnt="3">
        <dgm:presLayoutVars>
          <dgm:bulletEnabled val="1"/>
        </dgm:presLayoutVars>
      </dgm:prSet>
      <dgm:spPr/>
    </dgm:pt>
    <dgm:pt modelId="{D64CB5D5-837D-47FC-9E42-A26D800BC695}" type="pres">
      <dgm:prSet presAssocID="{CC6B7442-0B72-4EF2-9F13-1325B51AFF9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8B7B17B-8600-44B0-B235-389E5D71D804}" type="pres">
      <dgm:prSet presAssocID="{CC6B7442-0B72-4EF2-9F13-1325B51AFF9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D461F02-AB37-447A-AC6B-D31C4D2EC6A9}" srcId="{90119837-5B71-4D44-BB01-DB0B084933C8}" destId="{477D14C5-CED9-4CFC-B338-DFB0C8090B9F}" srcOrd="0" destOrd="0" parTransId="{92DFCBC7-BC14-4697-8ECD-BF0D5B1EDA3B}" sibTransId="{87E3C0DB-7BEE-424E-8E11-B838D238D595}"/>
    <dgm:cxn modelId="{B4626C02-16F5-4D36-BE6B-9AEEF0F56C86}" srcId="{477D14C5-CED9-4CFC-B338-DFB0C8090B9F}" destId="{CBE4FC04-D00A-492A-9E98-DB7228700F95}" srcOrd="1" destOrd="0" parTransId="{A4CFDE2B-A88E-4BC6-BF25-8D3F819056FC}" sibTransId="{ADC2E83E-D682-4355-AFB0-C70F295F2488}"/>
    <dgm:cxn modelId="{1385C917-4689-4CA8-9FC2-0779E60E3090}" type="presOf" srcId="{DD986A54-6FC5-4EA9-8975-4F5F9974673C}" destId="{CD5F6E02-AD43-4E7A-935B-DDF5D6C74800}" srcOrd="0" destOrd="2" presId="urn:microsoft.com/office/officeart/2005/8/layout/vList2"/>
    <dgm:cxn modelId="{C6E7222A-5F84-456A-9806-D51868FAF8A9}" srcId="{3C67E77D-62FA-499D-B5E6-E79A091C5267}" destId="{D6510970-8F9C-4B45-A0F3-6ACB9AA76D40}" srcOrd="0" destOrd="0" parTransId="{7A9FC291-2B6A-4475-8B09-917F9F09E3AB}" sibTransId="{4B87F32C-3630-48F2-9114-4262C0BEEA9E}"/>
    <dgm:cxn modelId="{32AA6160-4426-4C4D-93AE-E2F474E37AD9}" srcId="{90119837-5B71-4D44-BB01-DB0B084933C8}" destId="{3C67E77D-62FA-499D-B5E6-E79A091C5267}" srcOrd="1" destOrd="0" parTransId="{5337D229-E330-4525-B0FA-14EC5A80604A}" sibTransId="{C056AC5D-B04E-4376-A1CB-3EAB7BE5AF5B}"/>
    <dgm:cxn modelId="{A6FB3C49-AB75-4315-BB6B-886AA454F16F}" srcId="{CC6B7442-0B72-4EF2-9F13-1325B51AFF9F}" destId="{FE0A3CAE-D039-42F2-AF12-1E6F6793A633}" srcOrd="0" destOrd="0" parTransId="{7E2ED2D1-AFF4-4DED-BB53-30A310825CE2}" sibTransId="{417BDEF2-191B-4000-BDE8-D3D22A51FCF3}"/>
    <dgm:cxn modelId="{0F1F224B-6995-4D7E-B65E-FDD2121E7EA2}" type="presOf" srcId="{FE0A3CAE-D039-42F2-AF12-1E6F6793A633}" destId="{08B7B17B-8600-44B0-B235-389E5D71D804}" srcOrd="0" destOrd="0" presId="urn:microsoft.com/office/officeart/2005/8/layout/vList2"/>
    <dgm:cxn modelId="{D3583C6B-AA27-4F63-A3C5-7DB49EF3BD22}" srcId="{477D14C5-CED9-4CFC-B338-DFB0C8090B9F}" destId="{DD986A54-6FC5-4EA9-8975-4F5F9974673C}" srcOrd="2" destOrd="0" parTransId="{9DDC633D-FDB8-4A2A-B720-49FF347F84B9}" sibTransId="{C4847DF1-DC9E-4118-B298-D4E896AD8B21}"/>
    <dgm:cxn modelId="{102D6D4D-90C9-40F4-A001-35DCC329B127}" srcId="{90119837-5B71-4D44-BB01-DB0B084933C8}" destId="{CC6B7442-0B72-4EF2-9F13-1325B51AFF9F}" srcOrd="2" destOrd="0" parTransId="{E3D139E0-5DC2-4F8E-9F8F-B3F0EBCD4689}" sibTransId="{FF80E1BA-0D6F-4EE8-9640-892A5897DBCD}"/>
    <dgm:cxn modelId="{5BDE416F-F97E-4F73-BE1A-C12EA4F60682}" type="presOf" srcId="{90119837-5B71-4D44-BB01-DB0B084933C8}" destId="{ED5DCCC5-BCA8-4491-AA37-BAF153ECA184}" srcOrd="0" destOrd="0" presId="urn:microsoft.com/office/officeart/2005/8/layout/vList2"/>
    <dgm:cxn modelId="{FFD8B471-C98F-4DB5-8DE3-2AB7E896ADD5}" srcId="{477D14C5-CED9-4CFC-B338-DFB0C8090B9F}" destId="{C111C18A-FD96-4E63-821A-54D70D8DC65F}" srcOrd="0" destOrd="0" parTransId="{83BE74EF-FAB4-45A2-BBED-7CD5259AB210}" sibTransId="{B4F34DE2-2DAE-4F88-8C78-BD8892EBF4FF}"/>
    <dgm:cxn modelId="{89FFDA88-42ED-4D75-A33D-61BDD19CAAFF}" type="presOf" srcId="{CBE4FC04-D00A-492A-9E98-DB7228700F95}" destId="{CD5F6E02-AD43-4E7A-935B-DDF5D6C74800}" srcOrd="0" destOrd="1" presId="urn:microsoft.com/office/officeart/2005/8/layout/vList2"/>
    <dgm:cxn modelId="{594ECC8D-94FA-41B7-9F5F-6B7A67E36EF5}" type="presOf" srcId="{C111C18A-FD96-4E63-821A-54D70D8DC65F}" destId="{CD5F6E02-AD43-4E7A-935B-DDF5D6C74800}" srcOrd="0" destOrd="0" presId="urn:microsoft.com/office/officeart/2005/8/layout/vList2"/>
    <dgm:cxn modelId="{8D0A4494-246A-45A7-AB6A-CDBC9E33ECD3}" type="presOf" srcId="{477D14C5-CED9-4CFC-B338-DFB0C8090B9F}" destId="{A9DD881E-A532-414B-870C-8ADE2076F78C}" srcOrd="0" destOrd="0" presId="urn:microsoft.com/office/officeart/2005/8/layout/vList2"/>
    <dgm:cxn modelId="{72D362AC-1C73-40DF-BE99-4B24412C0442}" srcId="{477D14C5-CED9-4CFC-B338-DFB0C8090B9F}" destId="{4958C117-A332-414E-8B28-C5F5B208A6B5}" srcOrd="3" destOrd="0" parTransId="{B47622F9-F7EC-46B9-88B9-F3AB3EA1C4CC}" sibTransId="{E64D5C15-5529-458D-AB31-16814D908DD6}"/>
    <dgm:cxn modelId="{139D5BB1-09CB-45F8-9347-D7764258A754}" type="presOf" srcId="{CC6B7442-0B72-4EF2-9F13-1325B51AFF9F}" destId="{D64CB5D5-837D-47FC-9E42-A26D800BC695}" srcOrd="0" destOrd="0" presId="urn:microsoft.com/office/officeart/2005/8/layout/vList2"/>
    <dgm:cxn modelId="{96956FBE-70C8-4F89-BD0B-33093C0F439D}" type="presOf" srcId="{3C67E77D-62FA-499D-B5E6-E79A091C5267}" destId="{81203336-F3DE-4B3A-BCF4-0F68C23AC2BB}" srcOrd="0" destOrd="0" presId="urn:microsoft.com/office/officeart/2005/8/layout/vList2"/>
    <dgm:cxn modelId="{6447D4C9-9CE0-4457-ACB0-C99BAEF0E4BC}" type="presOf" srcId="{4958C117-A332-414E-8B28-C5F5B208A6B5}" destId="{CD5F6E02-AD43-4E7A-935B-DDF5D6C74800}" srcOrd="0" destOrd="3" presId="urn:microsoft.com/office/officeart/2005/8/layout/vList2"/>
    <dgm:cxn modelId="{A55A44F5-7713-43BE-A80C-9D7C49E6D5AD}" type="presOf" srcId="{D6510970-8F9C-4B45-A0F3-6ACB9AA76D40}" destId="{782956A5-ADC8-4959-B856-589B9D9B9635}" srcOrd="0" destOrd="0" presId="urn:microsoft.com/office/officeart/2005/8/layout/vList2"/>
    <dgm:cxn modelId="{0910C0A3-A67A-496C-8A74-C4E35FED4675}" type="presParOf" srcId="{ED5DCCC5-BCA8-4491-AA37-BAF153ECA184}" destId="{A9DD881E-A532-414B-870C-8ADE2076F78C}" srcOrd="0" destOrd="0" presId="urn:microsoft.com/office/officeart/2005/8/layout/vList2"/>
    <dgm:cxn modelId="{9334B2F5-7FCF-4B1F-B6AA-DB249F4421A1}" type="presParOf" srcId="{ED5DCCC5-BCA8-4491-AA37-BAF153ECA184}" destId="{CD5F6E02-AD43-4E7A-935B-DDF5D6C74800}" srcOrd="1" destOrd="0" presId="urn:microsoft.com/office/officeart/2005/8/layout/vList2"/>
    <dgm:cxn modelId="{4F4F04E9-8CC4-46EA-94F2-D97F126F4DA5}" type="presParOf" srcId="{ED5DCCC5-BCA8-4491-AA37-BAF153ECA184}" destId="{81203336-F3DE-4B3A-BCF4-0F68C23AC2BB}" srcOrd="2" destOrd="0" presId="urn:microsoft.com/office/officeart/2005/8/layout/vList2"/>
    <dgm:cxn modelId="{9E10C16C-1E52-4EC3-8CA1-A7C07C605948}" type="presParOf" srcId="{ED5DCCC5-BCA8-4491-AA37-BAF153ECA184}" destId="{782956A5-ADC8-4959-B856-589B9D9B9635}" srcOrd="3" destOrd="0" presId="urn:microsoft.com/office/officeart/2005/8/layout/vList2"/>
    <dgm:cxn modelId="{8E5B4048-9D19-4E76-9DF1-CC741CEADF9A}" type="presParOf" srcId="{ED5DCCC5-BCA8-4491-AA37-BAF153ECA184}" destId="{D64CB5D5-837D-47FC-9E42-A26D800BC695}" srcOrd="4" destOrd="0" presId="urn:microsoft.com/office/officeart/2005/8/layout/vList2"/>
    <dgm:cxn modelId="{3160F1A4-3C45-478F-BAAB-DEF3A5444A4A}" type="presParOf" srcId="{ED5DCCC5-BCA8-4491-AA37-BAF153ECA184}" destId="{08B7B17B-8600-44B0-B235-389E5D71D80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D881E-A532-414B-870C-8ADE2076F78C}">
      <dsp:nvSpPr>
        <dsp:cNvPr id="0" name=""/>
        <dsp:cNvSpPr/>
      </dsp:nvSpPr>
      <dsp:spPr>
        <a:xfrm>
          <a:off x="0" y="66544"/>
          <a:ext cx="5662611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Front-end Development</a:t>
          </a:r>
        </a:p>
      </dsp:txBody>
      <dsp:txXfrm>
        <a:off x="31984" y="98528"/>
        <a:ext cx="5598643" cy="591232"/>
      </dsp:txXfrm>
    </dsp:sp>
    <dsp:sp modelId="{CD5F6E02-AD43-4E7A-935B-DDF5D6C74800}">
      <dsp:nvSpPr>
        <dsp:cNvPr id="0" name=""/>
        <dsp:cNvSpPr/>
      </dsp:nvSpPr>
      <dsp:spPr>
        <a:xfrm>
          <a:off x="0" y="721744"/>
          <a:ext cx="5662611" cy="177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788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HTML 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Symbol" panose="05050102010706020507" pitchFamily="18" charset="2"/>
            <a:buChar char=""/>
          </a:pPr>
          <a:r>
            <a:rPr lang="en-US" sz="27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CSS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Symbol" panose="05050102010706020507" pitchFamily="18" charset="2"/>
            <a:buChar char=""/>
          </a:pPr>
          <a:r>
            <a:rPr lang="en-US" sz="27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Bootstrap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Symbol" panose="05050102010706020507" pitchFamily="18" charset="2"/>
            <a:buChar char=""/>
          </a:pPr>
          <a:r>
            <a:rPr lang="en-US" sz="27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JavaScript  </a:t>
          </a:r>
        </a:p>
      </dsp:txBody>
      <dsp:txXfrm>
        <a:off x="0" y="721744"/>
        <a:ext cx="5662611" cy="1775025"/>
      </dsp:txXfrm>
    </dsp:sp>
    <dsp:sp modelId="{81203336-F3DE-4B3A-BCF4-0F68C23AC2BB}">
      <dsp:nvSpPr>
        <dsp:cNvPr id="0" name=""/>
        <dsp:cNvSpPr/>
      </dsp:nvSpPr>
      <dsp:spPr>
        <a:xfrm>
          <a:off x="0" y="2496769"/>
          <a:ext cx="5662611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Back-end Development</a:t>
          </a:r>
        </a:p>
      </dsp:txBody>
      <dsp:txXfrm>
        <a:off x="31984" y="2528753"/>
        <a:ext cx="5598643" cy="591232"/>
      </dsp:txXfrm>
    </dsp:sp>
    <dsp:sp modelId="{782956A5-ADC8-4959-B856-589B9D9B9635}">
      <dsp:nvSpPr>
        <dsp:cNvPr id="0" name=""/>
        <dsp:cNvSpPr/>
      </dsp:nvSpPr>
      <dsp:spPr>
        <a:xfrm>
          <a:off x="0" y="3151969"/>
          <a:ext cx="5662611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788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PHP </a:t>
          </a:r>
        </a:p>
      </dsp:txBody>
      <dsp:txXfrm>
        <a:off x="0" y="3151969"/>
        <a:ext cx="5662611" cy="579600"/>
      </dsp:txXfrm>
    </dsp:sp>
    <dsp:sp modelId="{D64CB5D5-837D-47FC-9E42-A26D800BC695}">
      <dsp:nvSpPr>
        <dsp:cNvPr id="0" name=""/>
        <dsp:cNvSpPr/>
      </dsp:nvSpPr>
      <dsp:spPr>
        <a:xfrm>
          <a:off x="0" y="3731569"/>
          <a:ext cx="5662611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Database Related Tools </a:t>
          </a:r>
        </a:p>
      </dsp:txBody>
      <dsp:txXfrm>
        <a:off x="31984" y="3763553"/>
        <a:ext cx="5598643" cy="591232"/>
      </dsp:txXfrm>
    </dsp:sp>
    <dsp:sp modelId="{08B7B17B-8600-44B0-B235-389E5D71D804}">
      <dsp:nvSpPr>
        <dsp:cNvPr id="0" name=""/>
        <dsp:cNvSpPr/>
      </dsp:nvSpPr>
      <dsp:spPr>
        <a:xfrm>
          <a:off x="0" y="4386769"/>
          <a:ext cx="5662611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788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MySQL</a:t>
          </a:r>
        </a:p>
      </dsp:txBody>
      <dsp:txXfrm>
        <a:off x="0" y="4386769"/>
        <a:ext cx="5662611" cy="579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42A0D-ACCE-4207-9EAB-4698DF5C041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A0AEC-35AC-4737-B48A-1F0054813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24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09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293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6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8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1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6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67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7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61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33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94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7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14781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8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6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585E6A-18C8-4645-8343-FAE36C48FE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306427D-EBB1-4119-8E1A-0ECFD76CCF4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38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  <p:sldLayoutId id="214748404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9ABBAAA-E504-27BE-5F13-B37AE6988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377BBB-89E0-D642-4604-FACC5BD763F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F9C5E7-C5B1-10C4-AE67-AD849EB0D022}"/>
              </a:ext>
            </a:extLst>
          </p:cNvPr>
          <p:cNvSpPr/>
          <p:nvPr/>
        </p:nvSpPr>
        <p:spPr>
          <a:xfrm>
            <a:off x="1" y="1546411"/>
            <a:ext cx="9143999" cy="21515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D6700D-CCF7-53EB-5755-432E1E301CC4}"/>
              </a:ext>
            </a:extLst>
          </p:cNvPr>
          <p:cNvSpPr txBox="1"/>
          <p:nvPr/>
        </p:nvSpPr>
        <p:spPr>
          <a:xfrm>
            <a:off x="322729" y="250591"/>
            <a:ext cx="87002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EduConnect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 Web-Base Platform for Academic Collaboration and Resources Sharing </a:t>
            </a:r>
            <a:endParaRPr lang="en-US" sz="3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6BF79-14C7-A12C-6492-639034248725}"/>
              </a:ext>
            </a:extLst>
          </p:cNvPr>
          <p:cNvSpPr txBox="1"/>
          <p:nvPr/>
        </p:nvSpPr>
        <p:spPr>
          <a:xfrm>
            <a:off x="797885" y="2471218"/>
            <a:ext cx="3363298" cy="273921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Presented by,</a:t>
            </a:r>
          </a:p>
          <a:p>
            <a:endParaRPr lang="en-US" sz="2400" b="1" u="sng" dirty="0"/>
          </a:p>
          <a:p>
            <a:r>
              <a:rPr lang="en-US" sz="2400" b="1" dirty="0"/>
              <a:t>Mohammad </a:t>
            </a:r>
            <a:r>
              <a:rPr lang="en-US" sz="2400" b="1" dirty="0" err="1"/>
              <a:t>Ajij</a:t>
            </a:r>
            <a:endParaRPr lang="en-US" sz="2400" b="1" dirty="0"/>
          </a:p>
          <a:p>
            <a:r>
              <a:rPr lang="en-US" sz="2400" b="1" dirty="0"/>
              <a:t>ID</a:t>
            </a:r>
            <a:r>
              <a:rPr lang="en-US" sz="2400" dirty="0"/>
              <a:t>: MUH2011023M</a:t>
            </a:r>
          </a:p>
          <a:p>
            <a:r>
              <a:rPr lang="en-US" sz="2400" b="1" dirty="0"/>
              <a:t>Session</a:t>
            </a:r>
            <a:r>
              <a:rPr lang="en-US" sz="2400" dirty="0"/>
              <a:t>: 2019-20</a:t>
            </a:r>
          </a:p>
          <a:p>
            <a:r>
              <a:rPr lang="en-US" sz="2400" dirty="0"/>
              <a:t>Department of ICE,</a:t>
            </a:r>
          </a:p>
          <a:p>
            <a:r>
              <a:rPr lang="en-US" sz="2400" dirty="0"/>
              <a:t>NSTU.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B75A28-322C-B20F-270C-CE5E042F97D3}"/>
              </a:ext>
            </a:extLst>
          </p:cNvPr>
          <p:cNvSpPr txBox="1"/>
          <p:nvPr/>
        </p:nvSpPr>
        <p:spPr>
          <a:xfrm>
            <a:off x="4849793" y="2459647"/>
            <a:ext cx="3496322" cy="260071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rial Rounded MT Bold" panose="020F0704030504030204" pitchFamily="34" charset="0"/>
                <a:cs typeface="Times New Roman" pitchFamily="18" charset="0"/>
              </a:rPr>
              <a:t>Supervised by,</a:t>
            </a:r>
          </a:p>
          <a:p>
            <a:pPr algn="just">
              <a:lnSpc>
                <a:spcPct val="150000"/>
              </a:lnSpc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spc="-5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400" b="1" spc="-55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Mahbubul</a:t>
            </a:r>
            <a:r>
              <a:rPr lang="en-US" sz="2400" b="1" spc="-5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Alam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spc="-5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ICE,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NSTU.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33C7BE-FCE7-BC6D-AFAE-F2FC00836DBC}"/>
              </a:ext>
            </a:extLst>
          </p:cNvPr>
          <p:cNvSpPr txBox="1"/>
          <p:nvPr/>
        </p:nvSpPr>
        <p:spPr>
          <a:xfrm>
            <a:off x="3500235" y="6182987"/>
            <a:ext cx="2675965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23-07-2025</a:t>
            </a:r>
          </a:p>
        </p:txBody>
      </p:sp>
    </p:spTree>
    <p:extLst>
      <p:ext uri="{BB962C8B-B14F-4D97-AF65-F5344CB8AC3E}">
        <p14:creationId xmlns:p14="http://schemas.microsoft.com/office/powerpoint/2010/main" val="215244870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377BBB-89E0-D642-4604-FACC5BD763F7}"/>
              </a:ext>
            </a:extLst>
          </p:cNvPr>
          <p:cNvSpPr/>
          <p:nvPr/>
        </p:nvSpPr>
        <p:spPr>
          <a:xfrm>
            <a:off x="-121025" y="-364923"/>
            <a:ext cx="9144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3A2923C-8FF7-88C3-B443-A167972FF623}"/>
              </a:ext>
            </a:extLst>
          </p:cNvPr>
          <p:cNvSpPr/>
          <p:nvPr/>
        </p:nvSpPr>
        <p:spPr>
          <a:xfrm>
            <a:off x="8633011" y="6360460"/>
            <a:ext cx="389964" cy="3630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7C1D7-D1B4-957A-B71A-8FAF4CF343D1}"/>
              </a:ext>
            </a:extLst>
          </p:cNvPr>
          <p:cNvSpPr/>
          <p:nvPr/>
        </p:nvSpPr>
        <p:spPr>
          <a:xfrm>
            <a:off x="-121025" y="692691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ADCB-72CB-4052-8ABD-49F3DE0DD66D}"/>
              </a:ext>
            </a:extLst>
          </p:cNvPr>
          <p:cNvSpPr txBox="1"/>
          <p:nvPr/>
        </p:nvSpPr>
        <p:spPr>
          <a:xfrm>
            <a:off x="2191870" y="-224836"/>
            <a:ext cx="4760259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Rounded MT Bold" panose="020F0704030504030204" pitchFamily="34" charset="0"/>
              </a:rPr>
              <a:t>Outlines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3978B-A2FF-3053-E8D1-5B5D705CD887}"/>
              </a:ext>
            </a:extLst>
          </p:cNvPr>
          <p:cNvSpPr txBox="1"/>
          <p:nvPr/>
        </p:nvSpPr>
        <p:spPr>
          <a:xfrm>
            <a:off x="658375" y="1343540"/>
            <a:ext cx="7382435" cy="4821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</a:rPr>
              <a:t>OBJECTIVES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</a:rPr>
              <a:t>RELATED WORK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</a:rPr>
              <a:t> RESULT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</a:rPr>
              <a:t>LIMITATIONS &amp; FUTURE SCOPE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17222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3A2923C-8FF7-88C3-B443-A167972FF623}"/>
              </a:ext>
            </a:extLst>
          </p:cNvPr>
          <p:cNvSpPr/>
          <p:nvPr/>
        </p:nvSpPr>
        <p:spPr>
          <a:xfrm>
            <a:off x="8633011" y="6360460"/>
            <a:ext cx="389964" cy="3630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7C1D7-D1B4-957A-B71A-8FAF4CF343D1}"/>
              </a:ext>
            </a:extLst>
          </p:cNvPr>
          <p:cNvSpPr/>
          <p:nvPr/>
        </p:nvSpPr>
        <p:spPr>
          <a:xfrm>
            <a:off x="0" y="1005872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ADCB-72CB-4052-8ABD-49F3DE0DD66D}"/>
              </a:ext>
            </a:extLst>
          </p:cNvPr>
          <p:cNvSpPr txBox="1"/>
          <p:nvPr/>
        </p:nvSpPr>
        <p:spPr>
          <a:xfrm>
            <a:off x="2229971" y="89199"/>
            <a:ext cx="4760259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Rounded MT Bold" panose="020F0704030504030204" pitchFamily="34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3978B-A2FF-3053-E8D1-5B5D705CD887}"/>
              </a:ext>
            </a:extLst>
          </p:cNvPr>
          <p:cNvSpPr txBox="1"/>
          <p:nvPr/>
        </p:nvSpPr>
        <p:spPr>
          <a:xfrm>
            <a:off x="392444" y="1279016"/>
            <a:ext cx="7762314" cy="526297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 students and teachers with a structured academic platform.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discussions, virtual study rooms and group collaboration.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easy access to share notes and class materials.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real-time alerts for exams and schedules.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AI for quick study help and smart task tracking.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social distractions and boost focus, productivity, and teamwork.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8B328A-8D6A-437D-1DD9-5E0975CE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90854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3A2923C-8FF7-88C3-B443-A167972FF623}"/>
              </a:ext>
            </a:extLst>
          </p:cNvPr>
          <p:cNvSpPr/>
          <p:nvPr/>
        </p:nvSpPr>
        <p:spPr>
          <a:xfrm>
            <a:off x="8633011" y="6360460"/>
            <a:ext cx="389964" cy="3630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7C1D7-D1B4-957A-B71A-8FAF4CF343D1}"/>
              </a:ext>
            </a:extLst>
          </p:cNvPr>
          <p:cNvSpPr/>
          <p:nvPr/>
        </p:nvSpPr>
        <p:spPr>
          <a:xfrm>
            <a:off x="0" y="1005872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ADCB-72CB-4052-8ABD-49F3DE0DD66D}"/>
              </a:ext>
            </a:extLst>
          </p:cNvPr>
          <p:cNvSpPr txBox="1"/>
          <p:nvPr/>
        </p:nvSpPr>
        <p:spPr>
          <a:xfrm>
            <a:off x="2229971" y="89199"/>
            <a:ext cx="5814099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Rounded MT Bold" panose="020F0704030504030204" pitchFamily="34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3978B-A2FF-3053-E8D1-5B5D705CD887}"/>
              </a:ext>
            </a:extLst>
          </p:cNvPr>
          <p:cNvSpPr txBox="1"/>
          <p:nvPr/>
        </p:nvSpPr>
        <p:spPr>
          <a:xfrm>
            <a:off x="504307" y="1950668"/>
            <a:ext cx="8128704" cy="415498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academic communication relies on social media, causing distractions.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effective academic collaboration tools.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 place for group study, AI help, or resource sharing.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timely class and exam schedule notifications.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Poor organization of class notes and academic materials.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8B328A-8D6A-437D-1DD9-5E0975CE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73740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3A2923C-8FF7-88C3-B443-A167972FF623}"/>
              </a:ext>
            </a:extLst>
          </p:cNvPr>
          <p:cNvSpPr/>
          <p:nvPr/>
        </p:nvSpPr>
        <p:spPr>
          <a:xfrm>
            <a:off x="8633011" y="6360460"/>
            <a:ext cx="389964" cy="3630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7C1D7-D1B4-957A-B71A-8FAF4CF343D1}"/>
              </a:ext>
            </a:extLst>
          </p:cNvPr>
          <p:cNvSpPr/>
          <p:nvPr/>
        </p:nvSpPr>
        <p:spPr>
          <a:xfrm>
            <a:off x="0" y="1052639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ADCB-72CB-4052-8ABD-49F3DE0DD66D}"/>
              </a:ext>
            </a:extLst>
          </p:cNvPr>
          <p:cNvSpPr txBox="1"/>
          <p:nvPr/>
        </p:nvSpPr>
        <p:spPr>
          <a:xfrm>
            <a:off x="2229971" y="89199"/>
            <a:ext cx="5814099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Rounded MT Bold" panose="020F0704030504030204" pitchFamily="34" charset="0"/>
              </a:rPr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3978B-A2FF-3053-E8D1-5B5D705CD887}"/>
              </a:ext>
            </a:extLst>
          </p:cNvPr>
          <p:cNvSpPr txBox="1"/>
          <p:nvPr/>
        </p:nvSpPr>
        <p:spPr>
          <a:xfrm>
            <a:off x="507648" y="1648348"/>
            <a:ext cx="8128704" cy="526297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focused, distraction-free academic platform.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promote collaboration through group chats and study rooms.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deliver real-time class and exam schedules.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AI-based study help and task tracking.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academic communication and resource access.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dependency on social media for learning.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8B328A-8D6A-437D-1DD9-5E0975CE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94464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A235595-6264-B5BC-7B79-219951017D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6125" y="901110"/>
            <a:ext cx="7841643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Academic Platforms Reduce Distractions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Studies suggest dedicated a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cademic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platforms enhance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by minimizing distractions.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CMC with Education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Combining communication tools with structured academic resources improves student engagement.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Disrupts Learning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Research shows platforms like Facebook hinder academic performance due to non-educational distractions.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Structured Collaboration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Scholars propose designing structured academic platforms that support organized discussions and resource sharing.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Addresses These Gaps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This project develops a web-based academic platform focused on collaboration, workflow management, and distraction-free learning.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4EAD2F-CA97-59E1-7AD5-0FC77630BA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6125" y="123867"/>
            <a:ext cx="7543800" cy="667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Rounded MT Bold" panose="020F0704030504030204" pitchFamily="34" charset="0"/>
              </a:rPr>
              <a:t>Related 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12EE83-24E0-A6FB-5C32-834B1D1A5400}"/>
              </a:ext>
            </a:extLst>
          </p:cNvPr>
          <p:cNvSpPr/>
          <p:nvPr/>
        </p:nvSpPr>
        <p:spPr>
          <a:xfrm>
            <a:off x="0" y="910637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A5483F-29DD-4B87-B5D5-3332DD3ABC3B}"/>
              </a:ext>
            </a:extLst>
          </p:cNvPr>
          <p:cNvSpPr/>
          <p:nvPr/>
        </p:nvSpPr>
        <p:spPr>
          <a:xfrm>
            <a:off x="8633011" y="6360460"/>
            <a:ext cx="389964" cy="3630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1673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3176ACE4-7EAF-B116-B24D-C21A804DDB36}"/>
              </a:ext>
            </a:extLst>
          </p:cNvPr>
          <p:cNvSpPr txBox="1"/>
          <p:nvPr/>
        </p:nvSpPr>
        <p:spPr>
          <a:xfrm>
            <a:off x="8456612" y="35814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F8978E9-9EC3-C7FD-EE30-3B36F19BC241}"/>
              </a:ext>
            </a:extLst>
          </p:cNvPr>
          <p:cNvSpPr txBox="1">
            <a:spLocks/>
          </p:cNvSpPr>
          <p:nvPr/>
        </p:nvSpPr>
        <p:spPr>
          <a:xfrm>
            <a:off x="-5899" y="2834244"/>
            <a:ext cx="3641977" cy="3396850"/>
          </a:xfrm>
          <a:prstGeom prst="rect">
            <a:avLst/>
          </a:prstGeom>
        </p:spPr>
        <p:txBody>
          <a:bodyPr vert="horz" lIns="121899" tIns="60949" rIns="121899" bIns="60949" rtlCol="0" anchor="t">
            <a:noAutofit/>
          </a:bodyPr>
          <a:lstStyle>
            <a:lvl1pPr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/>
              <a:defRPr sz="5400" b="0" kern="1200" cap="none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User Management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Schedule Management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Generate Report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Manage Different Academic Info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Manage real-time user updates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1E217F80-27FC-900B-9309-F01944FDEEDD}"/>
              </a:ext>
            </a:extLst>
          </p:cNvPr>
          <p:cNvSpPr txBox="1">
            <a:spLocks/>
          </p:cNvSpPr>
          <p:nvPr/>
        </p:nvSpPr>
        <p:spPr>
          <a:xfrm>
            <a:off x="3700952" y="2681232"/>
            <a:ext cx="6039948" cy="3490452"/>
          </a:xfrm>
          <a:prstGeom prst="rect">
            <a:avLst/>
          </a:prstGeom>
        </p:spPr>
        <p:txBody>
          <a:bodyPr vert="horz" lIns="121899" tIns="60949" rIns="121899" bIns="60949" rtlCol="0" anchor="t">
            <a:noAutofit/>
          </a:bodyPr>
          <a:lstStyle>
            <a:lvl1pPr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/>
              <a:defRPr sz="5400" b="0" i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Participate in academic discussions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Share and access class materials and notes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Join study groups and collaborate with peers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Manage tasks using a smart to-do list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Securely upload and organize personal notes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View Class and Exam Schedule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Get instant study help using the built-in AI assistant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07F0ABC4-9C40-9716-6F93-DAE732D88F4C}"/>
              </a:ext>
            </a:extLst>
          </p:cNvPr>
          <p:cNvSpPr txBox="1"/>
          <p:nvPr/>
        </p:nvSpPr>
        <p:spPr>
          <a:xfrm>
            <a:off x="563357" y="2169432"/>
            <a:ext cx="944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3005CBFE-53CA-5361-DA68-13C7157DD9AD}"/>
              </a:ext>
            </a:extLst>
          </p:cNvPr>
          <p:cNvSpPr txBox="1"/>
          <p:nvPr/>
        </p:nvSpPr>
        <p:spPr>
          <a:xfrm>
            <a:off x="4572000" y="2124322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&amp; Teacher  Module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FC8A85-F415-3768-4A26-35B05CBF7EA6}"/>
              </a:ext>
            </a:extLst>
          </p:cNvPr>
          <p:cNvSpPr txBox="1"/>
          <p:nvPr/>
        </p:nvSpPr>
        <p:spPr>
          <a:xfrm>
            <a:off x="1203273" y="11690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01452F-BD02-B5A1-9C2D-CD9EB7434729}"/>
              </a:ext>
            </a:extLst>
          </p:cNvPr>
          <p:cNvCxnSpPr>
            <a:cxnSpLocks/>
          </p:cNvCxnSpPr>
          <p:nvPr/>
        </p:nvCxnSpPr>
        <p:spPr>
          <a:xfrm>
            <a:off x="3604508" y="2169432"/>
            <a:ext cx="22748" cy="438912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90448F2-2755-A900-0F53-320B83681271}"/>
              </a:ext>
            </a:extLst>
          </p:cNvPr>
          <p:cNvSpPr txBox="1"/>
          <p:nvPr/>
        </p:nvSpPr>
        <p:spPr>
          <a:xfrm>
            <a:off x="1815089" y="-8426"/>
            <a:ext cx="6129171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7EAE93-4373-1CE9-0762-6B7172E21B90}"/>
              </a:ext>
            </a:extLst>
          </p:cNvPr>
          <p:cNvSpPr/>
          <p:nvPr/>
        </p:nvSpPr>
        <p:spPr>
          <a:xfrm>
            <a:off x="-5899" y="825377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41DA2B-1339-7FA4-DB20-4E10EB19CF3C}"/>
              </a:ext>
            </a:extLst>
          </p:cNvPr>
          <p:cNvSpPr/>
          <p:nvPr/>
        </p:nvSpPr>
        <p:spPr>
          <a:xfrm>
            <a:off x="8633011" y="6360460"/>
            <a:ext cx="389964" cy="3630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6593188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9ABBAAA-E504-27BE-5F13-B37AE6988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377BBB-89E0-D642-4604-FACC5BD763F7}"/>
              </a:ext>
            </a:extLst>
          </p:cNvPr>
          <p:cNvSpPr/>
          <p:nvPr/>
        </p:nvSpPr>
        <p:spPr>
          <a:xfrm>
            <a:off x="0" y="-705521"/>
            <a:ext cx="9144000" cy="75635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3A2923C-8FF7-88C3-B443-A167972FF623}"/>
              </a:ext>
            </a:extLst>
          </p:cNvPr>
          <p:cNvSpPr/>
          <p:nvPr/>
        </p:nvSpPr>
        <p:spPr>
          <a:xfrm>
            <a:off x="8242852" y="6360460"/>
            <a:ext cx="780125" cy="3630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7C1D7-D1B4-957A-B71A-8FAF4CF343D1}"/>
              </a:ext>
            </a:extLst>
          </p:cNvPr>
          <p:cNvSpPr/>
          <p:nvPr/>
        </p:nvSpPr>
        <p:spPr>
          <a:xfrm>
            <a:off x="0" y="356792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ADCB-72CB-4052-8ABD-49F3DE0DD66D}"/>
              </a:ext>
            </a:extLst>
          </p:cNvPr>
          <p:cNvSpPr txBox="1"/>
          <p:nvPr/>
        </p:nvSpPr>
        <p:spPr>
          <a:xfrm>
            <a:off x="2211536" y="-474451"/>
            <a:ext cx="4760259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Case Diagram</a:t>
            </a:r>
            <a:endParaRPr lang="en-US" sz="4400" b="1" dirty="0"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C0BF01-9929-DF2D-3061-262F015BD240}"/>
              </a:ext>
            </a:extLst>
          </p:cNvPr>
          <p:cNvSpPr txBox="1"/>
          <p:nvPr/>
        </p:nvSpPr>
        <p:spPr>
          <a:xfrm>
            <a:off x="760412" y="602226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6858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Figure : Use case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diagram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tabLst>
                <a:tab pos="685800" algn="l"/>
              </a:tabLs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9DCDDA-5FF1-403F-BC05-645E22BCC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32" y="787654"/>
            <a:ext cx="8654045" cy="506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8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9ABBAAA-E504-27BE-5F13-B37AE6988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377BBB-89E0-D642-4604-FACC5BD763F7}"/>
              </a:ext>
            </a:extLst>
          </p:cNvPr>
          <p:cNvSpPr/>
          <p:nvPr/>
        </p:nvSpPr>
        <p:spPr>
          <a:xfrm>
            <a:off x="-1" y="-134472"/>
            <a:ext cx="9144000" cy="7099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3A2923C-8FF7-88C3-B443-A167972FF623}"/>
              </a:ext>
            </a:extLst>
          </p:cNvPr>
          <p:cNvSpPr/>
          <p:nvPr/>
        </p:nvSpPr>
        <p:spPr>
          <a:xfrm>
            <a:off x="8383588" y="6360460"/>
            <a:ext cx="639389" cy="3630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7C1D7-D1B4-957A-B71A-8FAF4CF343D1}"/>
              </a:ext>
            </a:extLst>
          </p:cNvPr>
          <p:cNvSpPr/>
          <p:nvPr/>
        </p:nvSpPr>
        <p:spPr>
          <a:xfrm>
            <a:off x="0" y="668447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ADCB-72CB-4052-8ABD-49F3DE0DD66D}"/>
              </a:ext>
            </a:extLst>
          </p:cNvPr>
          <p:cNvSpPr txBox="1"/>
          <p:nvPr/>
        </p:nvSpPr>
        <p:spPr>
          <a:xfrm>
            <a:off x="2191869" y="-25400"/>
            <a:ext cx="4760259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E-R Diagram</a:t>
            </a:r>
            <a:endParaRPr lang="en-US" sz="3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4F214-7F9A-D5F7-F7FA-4633DF77B0A1}"/>
              </a:ext>
            </a:extLst>
          </p:cNvPr>
          <p:cNvSpPr txBox="1"/>
          <p:nvPr/>
        </p:nvSpPr>
        <p:spPr>
          <a:xfrm>
            <a:off x="760412" y="602226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6858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Figure : E-R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diagram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tabLst>
                <a:tab pos="685800" algn="l"/>
              </a:tabLs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DA0238-9D2D-4AD9-900F-EF7B02CF4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14" y="1171857"/>
            <a:ext cx="8702488" cy="466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39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377BBB-89E0-D642-4604-FACC5BD763F7}"/>
              </a:ext>
            </a:extLst>
          </p:cNvPr>
          <p:cNvSpPr/>
          <p:nvPr/>
        </p:nvSpPr>
        <p:spPr>
          <a:xfrm>
            <a:off x="112712" y="-360285"/>
            <a:ext cx="9144000" cy="7099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3A2923C-8FF7-88C3-B443-A167972FF623}"/>
              </a:ext>
            </a:extLst>
          </p:cNvPr>
          <p:cNvSpPr/>
          <p:nvPr/>
        </p:nvSpPr>
        <p:spPr>
          <a:xfrm>
            <a:off x="8383588" y="6360460"/>
            <a:ext cx="639389" cy="3630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7C1D7-D1B4-957A-B71A-8FAF4CF343D1}"/>
              </a:ext>
            </a:extLst>
          </p:cNvPr>
          <p:cNvSpPr/>
          <p:nvPr/>
        </p:nvSpPr>
        <p:spPr>
          <a:xfrm>
            <a:off x="112712" y="530987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ADCB-72CB-4052-8ABD-49F3DE0DD66D}"/>
              </a:ext>
            </a:extLst>
          </p:cNvPr>
          <p:cNvSpPr txBox="1"/>
          <p:nvPr/>
        </p:nvSpPr>
        <p:spPr>
          <a:xfrm>
            <a:off x="2191870" y="-261672"/>
            <a:ext cx="4760259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4F214-7F9A-D5F7-F7FA-4633DF77B0A1}"/>
              </a:ext>
            </a:extLst>
          </p:cNvPr>
          <p:cNvSpPr txBox="1"/>
          <p:nvPr/>
        </p:nvSpPr>
        <p:spPr>
          <a:xfrm>
            <a:off x="760412" y="602226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6858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Figure : E-R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diagram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tabLst>
                <a:tab pos="685800" algn="l"/>
              </a:tabLs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04593D-584C-4EA8-9E51-40C33D0A2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23" y="948296"/>
            <a:ext cx="9144000" cy="579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90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C0DD-6B1B-8F10-A2FE-5D2B3FA75F93}"/>
              </a:ext>
            </a:extLst>
          </p:cNvPr>
          <p:cNvSpPr>
            <a:spLocks noGrp="1"/>
          </p:cNvSpPr>
          <p:nvPr/>
        </p:nvSpPr>
        <p:spPr>
          <a:xfrm>
            <a:off x="614200" y="255639"/>
            <a:ext cx="7646070" cy="725570"/>
          </a:xfrm>
          <a:prstGeom prst="rect">
            <a:avLst/>
          </a:prstGeom>
        </p:spPr>
        <p:txBody>
          <a:bodyPr vert="horz" lIns="121899" tIns="60949" rIns="121899" bIns="60949" rtlCol="0" anchor="b">
            <a:normAutofit fontScale="77500" lnSpcReduction="20000"/>
          </a:bodyPr>
          <a:lstStyle>
            <a:lvl1pPr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/>
              <a:defRPr sz="44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4030" marR="73152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685800" algn="l"/>
              </a:tabLst>
            </a:pPr>
            <a:endParaRPr lang="en-US" sz="4000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038C7-F8E4-D25C-2D39-8737D846F379}"/>
              </a:ext>
            </a:extLst>
          </p:cNvPr>
          <p:cNvSpPr txBox="1"/>
          <p:nvPr/>
        </p:nvSpPr>
        <p:spPr>
          <a:xfrm>
            <a:off x="1989196" y="39329"/>
            <a:ext cx="612917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 Rounded MT Bold" panose="020F0704030504030204" pitchFamily="34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Technologies and Tools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8A1567-2C8A-91AF-BE69-5CB103394D31}"/>
              </a:ext>
            </a:extLst>
          </p:cNvPr>
          <p:cNvSpPr>
            <a:spLocks noGrp="1"/>
          </p:cNvSpPr>
          <p:nvPr/>
        </p:nvSpPr>
        <p:spPr>
          <a:xfrm>
            <a:off x="-506677" y="533400"/>
            <a:ext cx="10157354" cy="9398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/>
              <a:defRPr sz="44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4030" marR="73152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685800" algn="l"/>
              </a:tabLst>
            </a:pPr>
            <a:endParaRPr lang="en-US" sz="4000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E2E719-430B-CABD-728B-AD0E20B79B97}"/>
              </a:ext>
            </a:extLst>
          </p:cNvPr>
          <p:cNvSpPr/>
          <p:nvPr/>
        </p:nvSpPr>
        <p:spPr>
          <a:xfrm>
            <a:off x="0" y="894119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ontent Placeholder 3" descr="Vertical bullet list showing 3 groups arranged one below the other and bullet points are present under each group.">
            <a:extLst>
              <a:ext uri="{FF2B5EF4-FFF2-40B4-BE49-F238E27FC236}">
                <a16:creationId xmlns:a16="http://schemas.microsoft.com/office/drawing/2014/main" id="{86E4BE60-CC04-5538-42B2-CD5633FC8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990109"/>
              </p:ext>
            </p:extLst>
          </p:nvPr>
        </p:nvGraphicFramePr>
        <p:xfrm>
          <a:off x="1848849" y="1287206"/>
          <a:ext cx="5662612" cy="5032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AED87CDD-FCC2-959F-9E25-56C640C45D34}"/>
              </a:ext>
            </a:extLst>
          </p:cNvPr>
          <p:cNvSpPr/>
          <p:nvPr/>
        </p:nvSpPr>
        <p:spPr>
          <a:xfrm>
            <a:off x="8388626" y="6320120"/>
            <a:ext cx="645924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478714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049EAA-2388-3447-BCB7-DCA94870B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E646DF3-5D8D-ABAE-CFC5-C915B7A07196}"/>
              </a:ext>
            </a:extLst>
          </p:cNvPr>
          <p:cNvSpPr/>
          <p:nvPr/>
        </p:nvSpPr>
        <p:spPr>
          <a:xfrm>
            <a:off x="8348870" y="6320120"/>
            <a:ext cx="67410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D78478-3A53-8FAC-F5A6-D230630C8BBC}"/>
              </a:ext>
            </a:extLst>
          </p:cNvPr>
          <p:cNvSpPr txBox="1"/>
          <p:nvPr/>
        </p:nvSpPr>
        <p:spPr>
          <a:xfrm>
            <a:off x="516834" y="1550504"/>
            <a:ext cx="8216349" cy="3667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800" dirty="0"/>
              <a:t> The system was structured into 4 integrated module :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Student module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Teacher module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Admin module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Visitor 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6898A9-854C-4D0F-A079-0315DF3BF610}"/>
              </a:ext>
            </a:extLst>
          </p:cNvPr>
          <p:cNvSpPr txBox="1"/>
          <p:nvPr/>
        </p:nvSpPr>
        <p:spPr>
          <a:xfrm>
            <a:off x="1659548" y="156042"/>
            <a:ext cx="5877911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396C82-AA4C-4D91-AE5E-16EBE5F78BEA}"/>
              </a:ext>
            </a:extLst>
          </p:cNvPr>
          <p:cNvSpPr/>
          <p:nvPr/>
        </p:nvSpPr>
        <p:spPr>
          <a:xfrm>
            <a:off x="0" y="838103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67812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049EAA-2388-3447-BCB7-DCA94870B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E646DF3-5D8D-ABAE-CFC5-C915B7A07196}"/>
              </a:ext>
            </a:extLst>
          </p:cNvPr>
          <p:cNvSpPr/>
          <p:nvPr/>
        </p:nvSpPr>
        <p:spPr>
          <a:xfrm>
            <a:off x="8369300" y="6320120"/>
            <a:ext cx="65367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D78478-3A53-8FAC-F5A6-D230630C8BBC}"/>
              </a:ext>
            </a:extLst>
          </p:cNvPr>
          <p:cNvSpPr txBox="1"/>
          <p:nvPr/>
        </p:nvSpPr>
        <p:spPr>
          <a:xfrm>
            <a:off x="2410820" y="6150114"/>
            <a:ext cx="5094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Figure : 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Student Dashboard of the system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6898A9-854C-4D0F-A079-0315DF3BF610}"/>
              </a:ext>
            </a:extLst>
          </p:cNvPr>
          <p:cNvSpPr txBox="1"/>
          <p:nvPr/>
        </p:nvSpPr>
        <p:spPr>
          <a:xfrm>
            <a:off x="1596316" y="-28774"/>
            <a:ext cx="5290259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396C82-AA4C-4D91-AE5E-16EBE5F78BEA}"/>
              </a:ext>
            </a:extLst>
          </p:cNvPr>
          <p:cNvSpPr/>
          <p:nvPr/>
        </p:nvSpPr>
        <p:spPr>
          <a:xfrm>
            <a:off x="0" y="612659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B7FF99-73B9-4FA8-A568-8BCA5D7EE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448"/>
            <a:ext cx="9144000" cy="30202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8E7D3-8023-4C74-8A8D-70F1291B7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4056"/>
            <a:ext cx="9144000" cy="217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96372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D97551-D0C1-298C-5D6A-475C810E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FD02AA0-2798-0CBD-EB90-E93EEA23FA47}"/>
              </a:ext>
            </a:extLst>
          </p:cNvPr>
          <p:cNvSpPr/>
          <p:nvPr/>
        </p:nvSpPr>
        <p:spPr>
          <a:xfrm>
            <a:off x="8388626" y="6320120"/>
            <a:ext cx="634349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0BCFFE-3210-E934-82CD-68754CEB7B2D}"/>
              </a:ext>
            </a:extLst>
          </p:cNvPr>
          <p:cNvSpPr/>
          <p:nvPr/>
        </p:nvSpPr>
        <p:spPr>
          <a:xfrm>
            <a:off x="0" y="585075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26366-2E0A-03BC-D78E-19CB112A6AC4}"/>
              </a:ext>
            </a:extLst>
          </p:cNvPr>
          <p:cNvSpPr txBox="1"/>
          <p:nvPr/>
        </p:nvSpPr>
        <p:spPr>
          <a:xfrm>
            <a:off x="2383041" y="6150114"/>
            <a:ext cx="5178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 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Teacher Dashboard of the system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C3B1A-3638-4099-93E5-69B4913043B4}"/>
              </a:ext>
            </a:extLst>
          </p:cNvPr>
          <p:cNvSpPr txBox="1"/>
          <p:nvPr/>
        </p:nvSpPr>
        <p:spPr>
          <a:xfrm>
            <a:off x="1596315" y="-28775"/>
            <a:ext cx="526168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Dashboard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04C3F9-1FEF-4A5A-821C-B9CA5209A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5707"/>
            <a:ext cx="9144000" cy="32133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D6CF2A-D326-4877-A0AA-DE122FB40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" y="4033712"/>
            <a:ext cx="9144000" cy="206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79991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D97551-D0C1-298C-5D6A-475C810E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FD02AA0-2798-0CBD-EB90-E93EEA23FA47}"/>
              </a:ext>
            </a:extLst>
          </p:cNvPr>
          <p:cNvSpPr/>
          <p:nvPr/>
        </p:nvSpPr>
        <p:spPr>
          <a:xfrm>
            <a:off x="8369300" y="6320120"/>
            <a:ext cx="65367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0BCFFE-3210-E934-82CD-68754CEB7B2D}"/>
              </a:ext>
            </a:extLst>
          </p:cNvPr>
          <p:cNvSpPr/>
          <p:nvPr/>
        </p:nvSpPr>
        <p:spPr>
          <a:xfrm>
            <a:off x="-36684" y="690938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26366-2E0A-03BC-D78E-19CB112A6AC4}"/>
              </a:ext>
            </a:extLst>
          </p:cNvPr>
          <p:cNvSpPr txBox="1"/>
          <p:nvPr/>
        </p:nvSpPr>
        <p:spPr>
          <a:xfrm>
            <a:off x="2383041" y="6150114"/>
            <a:ext cx="5178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: 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Dashboard of the system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C3B1A-3638-4099-93E5-69B4913043B4}"/>
              </a:ext>
            </a:extLst>
          </p:cNvPr>
          <p:cNvSpPr txBox="1"/>
          <p:nvPr/>
        </p:nvSpPr>
        <p:spPr>
          <a:xfrm>
            <a:off x="1545515" y="20370"/>
            <a:ext cx="5261685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509CB-78B6-4634-A76C-4FCB5FBF8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8448"/>
            <a:ext cx="9144000" cy="444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87560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D97551-D0C1-298C-5D6A-475C810E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FD02AA0-2798-0CBD-EB90-E93EEA23FA47}"/>
              </a:ext>
            </a:extLst>
          </p:cNvPr>
          <p:cNvSpPr/>
          <p:nvPr/>
        </p:nvSpPr>
        <p:spPr>
          <a:xfrm>
            <a:off x="8356600" y="6320120"/>
            <a:ext cx="66637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0BCFFE-3210-E934-82CD-68754CEB7B2D}"/>
              </a:ext>
            </a:extLst>
          </p:cNvPr>
          <p:cNvSpPr/>
          <p:nvPr/>
        </p:nvSpPr>
        <p:spPr>
          <a:xfrm>
            <a:off x="0" y="700454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26366-2E0A-03BC-D78E-19CB112A6AC4}"/>
              </a:ext>
            </a:extLst>
          </p:cNvPr>
          <p:cNvSpPr txBox="1"/>
          <p:nvPr/>
        </p:nvSpPr>
        <p:spPr>
          <a:xfrm>
            <a:off x="2369238" y="6106326"/>
            <a:ext cx="5441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Visitor Dashboard of  the system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C3B1A-3638-4099-93E5-69B4913043B4}"/>
              </a:ext>
            </a:extLst>
          </p:cNvPr>
          <p:cNvSpPr txBox="1"/>
          <p:nvPr/>
        </p:nvSpPr>
        <p:spPr>
          <a:xfrm>
            <a:off x="1558215" y="38100"/>
            <a:ext cx="524898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 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933891-FD67-4F0E-A0DE-429DD42E6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7884"/>
            <a:ext cx="9144000" cy="500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4271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CF6831-ABFD-5BAF-0E4A-C3070DBA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FFFD631-36D7-E706-84E3-D7319D32544A}"/>
              </a:ext>
            </a:extLst>
          </p:cNvPr>
          <p:cNvSpPr/>
          <p:nvPr/>
        </p:nvSpPr>
        <p:spPr>
          <a:xfrm>
            <a:off x="8369300" y="6222834"/>
            <a:ext cx="65367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AC06BF-A5AC-C0D1-391A-808C73963BA0}"/>
              </a:ext>
            </a:extLst>
          </p:cNvPr>
          <p:cNvSpPr/>
          <p:nvPr/>
        </p:nvSpPr>
        <p:spPr>
          <a:xfrm>
            <a:off x="0" y="743255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E8F91B-AEC5-F39D-B95F-0CAA8E3E5862}"/>
              </a:ext>
            </a:extLst>
          </p:cNvPr>
          <p:cNvSpPr txBox="1"/>
          <p:nvPr/>
        </p:nvSpPr>
        <p:spPr>
          <a:xfrm>
            <a:off x="2240167" y="5761169"/>
            <a:ext cx="5325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: 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Post Creation Box Page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3E3679-9166-4450-A73F-5EF961C4B47E}"/>
              </a:ext>
            </a:extLst>
          </p:cNvPr>
          <p:cNvSpPr txBox="1"/>
          <p:nvPr/>
        </p:nvSpPr>
        <p:spPr>
          <a:xfrm>
            <a:off x="1872540" y="104575"/>
            <a:ext cx="5261685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Collaboration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59F071-7DE5-4BAE-A1AC-701A12E65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831"/>
            <a:ext cx="9144000" cy="437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77789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CF6831-ABFD-5BAF-0E4A-C3070DBA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9E8F91B-AEC5-F39D-B95F-0CAA8E3E5862}"/>
              </a:ext>
            </a:extLst>
          </p:cNvPr>
          <p:cNvSpPr txBox="1"/>
          <p:nvPr/>
        </p:nvSpPr>
        <p:spPr>
          <a:xfrm>
            <a:off x="1859166" y="5697669"/>
            <a:ext cx="642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: 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Shared Post with Comment Feature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D2D247-3FFC-4BBD-9089-4F9A5AB49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9891"/>
            <a:ext cx="9144000" cy="473327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95122EC-59F0-4A1C-A678-BE55B17FB948}"/>
              </a:ext>
            </a:extLst>
          </p:cNvPr>
          <p:cNvSpPr/>
          <p:nvPr/>
        </p:nvSpPr>
        <p:spPr>
          <a:xfrm>
            <a:off x="8394700" y="6298109"/>
            <a:ext cx="65367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88343104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CF6831-ABFD-5BAF-0E4A-C3070DBA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06BF-A5AC-C0D1-391A-808C73963BA0}"/>
              </a:ext>
            </a:extLst>
          </p:cNvPr>
          <p:cNvSpPr/>
          <p:nvPr/>
        </p:nvSpPr>
        <p:spPr>
          <a:xfrm>
            <a:off x="-1" y="696721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E8F91B-AEC5-F39D-B95F-0CAA8E3E5862}"/>
              </a:ext>
            </a:extLst>
          </p:cNvPr>
          <p:cNvSpPr txBox="1"/>
          <p:nvPr/>
        </p:nvSpPr>
        <p:spPr>
          <a:xfrm>
            <a:off x="1872540" y="5761169"/>
            <a:ext cx="5693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:  </a:t>
            </a:r>
            <a:r>
              <a:rPr lang="en-US" sz="24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Group Directory Page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3E3679-9166-4450-A73F-5EF961C4B47E}"/>
              </a:ext>
            </a:extLst>
          </p:cNvPr>
          <p:cNvSpPr txBox="1"/>
          <p:nvPr/>
        </p:nvSpPr>
        <p:spPr>
          <a:xfrm>
            <a:off x="1941157" y="79987"/>
            <a:ext cx="526168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Collaborative Group Forum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187794-2F82-4DF5-9F7C-82C92E3D0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618" y="1645797"/>
            <a:ext cx="9144000" cy="337436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7CD786D-2251-4443-9CCD-ACB0A561EF8E}"/>
              </a:ext>
            </a:extLst>
          </p:cNvPr>
          <p:cNvSpPr/>
          <p:nvPr/>
        </p:nvSpPr>
        <p:spPr>
          <a:xfrm>
            <a:off x="8421707" y="6327423"/>
            <a:ext cx="65367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19406936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CF6831-ABFD-5BAF-0E4A-C3070DBA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9E8F91B-AEC5-F39D-B95F-0CAA8E3E5862}"/>
              </a:ext>
            </a:extLst>
          </p:cNvPr>
          <p:cNvSpPr txBox="1"/>
          <p:nvPr/>
        </p:nvSpPr>
        <p:spPr>
          <a:xfrm>
            <a:off x="2056017" y="5738944"/>
            <a:ext cx="5325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:  </a:t>
            </a:r>
            <a:r>
              <a:rPr lang="en-US" sz="24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My Groups Page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67A7C-9035-471B-ADCD-79598719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92" y="80320"/>
            <a:ext cx="7324234" cy="435375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DD09358-C0A9-43AA-B949-5C1F51F6CECF}"/>
              </a:ext>
            </a:extLst>
          </p:cNvPr>
          <p:cNvSpPr/>
          <p:nvPr/>
        </p:nvSpPr>
        <p:spPr>
          <a:xfrm>
            <a:off x="8369488" y="6307419"/>
            <a:ext cx="65367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70384960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CF6831-ABFD-5BAF-0E4A-C3070DBA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9E8F91B-AEC5-F39D-B95F-0CAA8E3E5862}"/>
              </a:ext>
            </a:extLst>
          </p:cNvPr>
          <p:cNvSpPr txBox="1"/>
          <p:nvPr/>
        </p:nvSpPr>
        <p:spPr>
          <a:xfrm>
            <a:off x="2297317" y="4837244"/>
            <a:ext cx="5325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My Groups Page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17A10-36C2-467E-92DA-3643449F1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37" y="446648"/>
            <a:ext cx="7172325" cy="5248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FEAD6E-36CE-408E-A232-85108507F0B3}"/>
              </a:ext>
            </a:extLst>
          </p:cNvPr>
          <p:cNvSpPr txBox="1"/>
          <p:nvPr/>
        </p:nvSpPr>
        <p:spPr>
          <a:xfrm>
            <a:off x="2297316" y="6152493"/>
            <a:ext cx="49162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Collaborative Group Forum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96B045-662C-4B62-A269-5053356D8C8B}"/>
              </a:ext>
            </a:extLst>
          </p:cNvPr>
          <p:cNvSpPr/>
          <p:nvPr/>
        </p:nvSpPr>
        <p:spPr>
          <a:xfrm>
            <a:off x="8394888" y="6395413"/>
            <a:ext cx="65367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248940367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324850" y="6215545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45117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525917" y="6336845"/>
            <a:ext cx="5256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Update Class Schedule</a:t>
            </a:r>
          </a:p>
          <a:p>
            <a:pPr algn="ctr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Update Class Schedule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452E9-9E20-4CF6-B941-9B23FA94A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19" y="813036"/>
            <a:ext cx="7104762" cy="5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20712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324850" y="6215545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14340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318852" y="5911070"/>
            <a:ext cx="52560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Update Exam Schedule</a:t>
            </a:r>
          </a:p>
          <a:p>
            <a:pPr algn="ctr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955445" y="-16818"/>
            <a:ext cx="523311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Update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Exam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Schedule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10B295-B802-4BFE-91BF-3336AAE86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" y="1461013"/>
            <a:ext cx="9133192" cy="371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208608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324850" y="6215545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755421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369652" y="4866084"/>
            <a:ext cx="52560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AI Query Panel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09040" y="90387"/>
            <a:ext cx="581662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Academic AI Assistant Chat Module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F0936B-428A-4521-9EA1-880A75922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790"/>
            <a:ext cx="9144000" cy="224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60150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324850" y="6215545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912577" y="6265013"/>
            <a:ext cx="5256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AI Response Viewer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4BDF25-B629-4DC9-BC00-18CF751B8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26" y="798966"/>
            <a:ext cx="7409524" cy="5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55613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48486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14340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498861" y="6080447"/>
            <a:ext cx="52560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Note Upload Page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Note Sharing Page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325806-E187-4FF1-BF75-7AFF07B8F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9104"/>
            <a:ext cx="9144000" cy="361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84860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4508" y="6454626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14340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206761" y="6484863"/>
            <a:ext cx="5256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Available Notes Viewer Page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Study Materials Explorer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DB343D-7837-4FE2-8196-462D77709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12" y="855588"/>
            <a:ext cx="848677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50807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48486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14340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333761" y="5889717"/>
            <a:ext cx="5256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Latest Uploaded Notes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Latest Uploaded Notes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581029-EEAE-4F6E-BCD5-932F7295D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5305"/>
            <a:ext cx="9144000" cy="372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52053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48486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14340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468572" y="6217024"/>
            <a:ext cx="5256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Notification Panel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Notification Panel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36671A-8DF8-4947-95DE-59EA765B7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541" y="1061156"/>
            <a:ext cx="5233110" cy="491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97376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31730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14340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333761" y="5889717"/>
            <a:ext cx="5256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Smart User Finder Module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Smart User Finder Module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5CC676-48C9-4152-9228-F38C70D5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867"/>
            <a:ext cx="9144000" cy="414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39224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48486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33909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333761" y="6054194"/>
            <a:ext cx="5256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Note Upload Interface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Private Notes Archive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BE849-5BC8-4251-B727-1AB842F7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57" y="1480193"/>
            <a:ext cx="8514286" cy="4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505401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48486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14340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333761" y="5659029"/>
            <a:ext cx="5837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Organized Note Management Panel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Organized Note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A15AC7-4460-4A78-9755-B34E108B1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66" y="1409952"/>
            <a:ext cx="8666667" cy="4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36022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48486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01501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530611" y="6439390"/>
            <a:ext cx="5256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Smart Task Tracker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Smart Task Tracker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D838E-C0C8-48E9-A09D-064F9A3F5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8" y="848914"/>
            <a:ext cx="7790476" cy="5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30884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48486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14340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282961" y="6457890"/>
            <a:ext cx="5256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272727"/>
                </a:solidFill>
                <a:effectLst/>
                <a:latin typeface="Times New Roman" panose="02020603050405020304" pitchFamily="18" charset="0"/>
              </a:rPr>
              <a:t>Academic Syllabus Management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Academic Syllabus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FD886-55F4-468C-8C6E-3E1F2E52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235"/>
            <a:ext cx="9144000" cy="542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82294"/>
      </p:ext>
    </p:extLst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48486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742904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460761" y="5884698"/>
            <a:ext cx="5256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View Academic Syllabus</a:t>
            </a:r>
          </a:p>
          <a:p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View Academic Syllabus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702E66-1494-4D8E-A0C1-F80B82345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33" y="1171857"/>
            <a:ext cx="8533333" cy="4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711664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48486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678904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371861" y="6504057"/>
            <a:ext cx="5256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Notice Management Panel</a:t>
            </a:r>
          </a:p>
          <a:p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872541" y="0"/>
            <a:ext cx="523311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Notice Management Panel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317B5-F36B-4420-8F13-8FB44F08D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5" y="1008673"/>
            <a:ext cx="8523809" cy="5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74466"/>
      </p:ext>
    </p:extLst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FBAD61-AD4D-368A-88F4-998832B2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425D49-3757-A120-672E-462F8FE067F0}"/>
              </a:ext>
            </a:extLst>
          </p:cNvPr>
          <p:cNvSpPr/>
          <p:nvPr/>
        </p:nvSpPr>
        <p:spPr>
          <a:xfrm>
            <a:off x="8445875" y="648486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539963-9A88-1921-784E-CC5D074B715F}"/>
              </a:ext>
            </a:extLst>
          </p:cNvPr>
          <p:cNvSpPr/>
          <p:nvPr/>
        </p:nvSpPr>
        <p:spPr>
          <a:xfrm>
            <a:off x="0" y="736064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9CE4A-F5D1-243E-34A6-79FDC51E988D}"/>
              </a:ext>
            </a:extLst>
          </p:cNvPr>
          <p:cNvSpPr txBox="1"/>
          <p:nvPr/>
        </p:nvSpPr>
        <p:spPr>
          <a:xfrm>
            <a:off x="2613161" y="6014360"/>
            <a:ext cx="5210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Notice Board Overview</a:t>
            </a:r>
          </a:p>
          <a:p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4A353-9013-43F2-B874-0B6B2BFA81DD}"/>
              </a:ext>
            </a:extLst>
          </p:cNvPr>
          <p:cNvSpPr txBox="1"/>
          <p:nvPr/>
        </p:nvSpPr>
        <p:spPr>
          <a:xfrm>
            <a:off x="1955445" y="0"/>
            <a:ext cx="523311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Notice Board Overview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C27A8-68A6-4708-AAA6-21C9B090B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3625"/>
            <a:ext cx="9144000" cy="381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29060"/>
      </p:ext>
    </p:extLst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9ABBAAA-E504-27BE-5F13-B37AE6988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377BBB-89E0-D642-4604-FACC5BD763F7}"/>
              </a:ext>
            </a:extLst>
          </p:cNvPr>
          <p:cNvSpPr/>
          <p:nvPr/>
        </p:nvSpPr>
        <p:spPr>
          <a:xfrm>
            <a:off x="-1" y="-134472"/>
            <a:ext cx="9144000" cy="69924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7C1D7-D1B4-957A-B71A-8FAF4CF343D1}"/>
              </a:ext>
            </a:extLst>
          </p:cNvPr>
          <p:cNvSpPr/>
          <p:nvPr/>
        </p:nvSpPr>
        <p:spPr>
          <a:xfrm>
            <a:off x="-3" y="1042573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ADCB-72CB-4052-8ABD-49F3DE0DD66D}"/>
              </a:ext>
            </a:extLst>
          </p:cNvPr>
          <p:cNvSpPr txBox="1"/>
          <p:nvPr/>
        </p:nvSpPr>
        <p:spPr>
          <a:xfrm>
            <a:off x="1875750" y="61355"/>
            <a:ext cx="6129171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Rounded MT Bold" panose="020F0704030504030204" pitchFamily="34" charset="0"/>
              </a:rPr>
              <a:t>Limitations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3978B-A2FF-3053-E8D1-5B5D705CD887}"/>
              </a:ext>
            </a:extLst>
          </p:cNvPr>
          <p:cNvSpPr txBox="1"/>
          <p:nvPr/>
        </p:nvSpPr>
        <p:spPr>
          <a:xfrm>
            <a:off x="629768" y="1924964"/>
            <a:ext cx="7375153" cy="4416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Dependency on Internet Connectivity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Scalability issues for larger user bases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Need for regular maintenance and updates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No offline mode for accessing resources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No live video in group study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800" dirty="0"/>
              <a:t>Cost of hosting and development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B32AB6-94F4-4E3C-95B0-498F6CE4FD29}"/>
              </a:ext>
            </a:extLst>
          </p:cNvPr>
          <p:cNvSpPr/>
          <p:nvPr/>
        </p:nvSpPr>
        <p:spPr>
          <a:xfrm>
            <a:off x="8445872" y="6429156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4043518539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67C1D7-D1B4-957A-B71A-8FAF4CF343D1}"/>
              </a:ext>
            </a:extLst>
          </p:cNvPr>
          <p:cNvSpPr/>
          <p:nvPr/>
        </p:nvSpPr>
        <p:spPr>
          <a:xfrm>
            <a:off x="0" y="943280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ADCB-72CB-4052-8ABD-49F3DE0DD66D}"/>
              </a:ext>
            </a:extLst>
          </p:cNvPr>
          <p:cNvSpPr txBox="1"/>
          <p:nvPr/>
        </p:nvSpPr>
        <p:spPr>
          <a:xfrm>
            <a:off x="1507414" y="39352"/>
            <a:ext cx="6129171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Rounded MT Bold" panose="020F0704030504030204" pitchFamily="34" charset="0"/>
              </a:rPr>
              <a:t>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130BF-EAF5-47C2-84D2-2D15823FECF1}"/>
              </a:ext>
            </a:extLst>
          </p:cNvPr>
          <p:cNvSpPr txBox="1"/>
          <p:nvPr/>
        </p:nvSpPr>
        <p:spPr>
          <a:xfrm>
            <a:off x="655217" y="2089271"/>
            <a:ext cx="7833566" cy="35493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Mobile App Development</a:t>
            </a: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Mentorship Features</a:t>
            </a: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Integration of Video Tutorials</a:t>
            </a: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Expanded Virtual Study Rooms</a:t>
            </a: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Enable offline access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DEEBD8-E1E2-4CA6-9D9A-4F8912C0D92E}"/>
              </a:ext>
            </a:extLst>
          </p:cNvPr>
          <p:cNvSpPr/>
          <p:nvPr/>
        </p:nvSpPr>
        <p:spPr>
          <a:xfrm>
            <a:off x="8445872" y="6429156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261664654"/>
      </p:ext>
    </p:extLst>
  </p:cSld>
  <p:clrMapOvr>
    <a:masterClrMapping/>
  </p:clrMapOvr>
  <p:transition spd="slow">
    <p:cover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67C1D7-D1B4-957A-B71A-8FAF4CF343D1}"/>
              </a:ext>
            </a:extLst>
          </p:cNvPr>
          <p:cNvSpPr/>
          <p:nvPr/>
        </p:nvSpPr>
        <p:spPr>
          <a:xfrm>
            <a:off x="0" y="985971"/>
            <a:ext cx="9144000" cy="10757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ADCB-72CB-4052-8ABD-49F3DE0DD66D}"/>
              </a:ext>
            </a:extLst>
          </p:cNvPr>
          <p:cNvSpPr txBox="1"/>
          <p:nvPr/>
        </p:nvSpPr>
        <p:spPr>
          <a:xfrm>
            <a:off x="1815089" y="93519"/>
            <a:ext cx="6129171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Rounded MT Bold" panose="020F070403050403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3978B-A2FF-3053-E8D1-5B5D705CD887}"/>
              </a:ext>
            </a:extLst>
          </p:cNvPr>
          <p:cNvSpPr txBox="1"/>
          <p:nvPr/>
        </p:nvSpPr>
        <p:spPr>
          <a:xfrm>
            <a:off x="835263" y="1600019"/>
            <a:ext cx="7375153" cy="4730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Provides a focused platform for academic collaboration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Enhances collaboration with discussions, study rooms, and AI help.</a:t>
            </a:r>
          </a:p>
          <a:p>
            <a:pPr algn="just">
              <a:lnSpc>
                <a:spcPct val="115000"/>
              </a:lnSpc>
            </a:pPr>
            <a:endParaRPr lang="en-US" sz="2400" dirty="0"/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Reduces distractions and streamlines academic management.</a:t>
            </a:r>
          </a:p>
          <a:p>
            <a:pPr algn="just">
              <a:lnSpc>
                <a:spcPct val="115000"/>
              </a:lnSpc>
            </a:pPr>
            <a:endParaRPr lang="en-US" sz="2400" dirty="0"/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Improves communication and boosts learning efficiency.</a:t>
            </a:r>
          </a:p>
          <a:p>
            <a:pPr algn="just">
              <a:lnSpc>
                <a:spcPct val="115000"/>
              </a:lnSpc>
            </a:pP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A63781-5241-446C-8F36-C5A6DF9618B0}"/>
              </a:ext>
            </a:extLst>
          </p:cNvPr>
          <p:cNvSpPr/>
          <p:nvPr/>
        </p:nvSpPr>
        <p:spPr>
          <a:xfrm>
            <a:off x="8308737" y="6330353"/>
            <a:ext cx="698125" cy="40341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837239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377BBB-89E0-D642-4604-FACC5BD763F7}"/>
              </a:ext>
            </a:extLst>
          </p:cNvPr>
          <p:cNvSpPr/>
          <p:nvPr/>
        </p:nvSpPr>
        <p:spPr>
          <a:xfrm>
            <a:off x="0" y="0"/>
            <a:ext cx="9035845" cy="6656439"/>
          </a:xfrm>
          <a:prstGeom prst="rect">
            <a:avLst/>
          </a:prstGeom>
          <a:solidFill>
            <a:schemeClr val="tx1">
              <a:lumMod val="65000"/>
              <a:lumOff val="35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40A281-4B20-86D5-E3ED-0CF9508006F6}"/>
              </a:ext>
            </a:extLst>
          </p:cNvPr>
          <p:cNvSpPr txBox="1"/>
          <p:nvPr/>
        </p:nvSpPr>
        <p:spPr>
          <a:xfrm>
            <a:off x="1684019" y="2316482"/>
            <a:ext cx="577596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8244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2327</TotalTime>
  <Words>798</Words>
  <Application>Microsoft Office PowerPoint</Application>
  <PresentationFormat>On-screen Show (4:3)</PresentationFormat>
  <Paragraphs>228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Algerian</vt:lpstr>
      <vt:lpstr>Arial</vt:lpstr>
      <vt:lpstr>Arial Rounded MT Bold</vt:lpstr>
      <vt:lpstr>Calibri</vt:lpstr>
      <vt:lpstr>Calibri Light</vt:lpstr>
      <vt:lpstr>Symbol</vt:lpstr>
      <vt:lpstr>Times New Roman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Related 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Fardin Chowdhury</dc:creator>
  <cp:lastModifiedBy>Mohammad Ajij</cp:lastModifiedBy>
  <cp:revision>69</cp:revision>
  <dcterms:created xsi:type="dcterms:W3CDTF">2023-09-17T12:44:29Z</dcterms:created>
  <dcterms:modified xsi:type="dcterms:W3CDTF">2025-07-22T17:31:10Z</dcterms:modified>
</cp:coreProperties>
</file>